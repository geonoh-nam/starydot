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문장으로: 아이에게 틀린 것을 가르치지 않는 방법은, LLM에게 지어내지 말라고 부탁하는 게 아니라 지어낼 표면 자체를 없애는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대비 — v1=generate.py(자유 생성), v2=generate2.py(재료 기반). 앱에 실제로 실리는 마무리 활동은 generate3.py 산출물로 5편 21건 채택/4건 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멘트. 실패를 측정해 고친 과정을 보여주는 쪽이 기술적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팀 내부 검토용. 최종 제출본에서는 제외한다.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image" Target="../media/image-2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262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1481328"/>
            <a:ext cx="384048" cy="384048"/>
          </a:xfrm>
          <a:prstGeom prst="ellipse">
            <a:avLst/>
          </a:prstGeom>
          <a:solidFill>
            <a:srgbClr val="FF6B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SK텔레콤 FLY AI Challenger 8기 · 최종 발표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스토리닷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한 편에서, 근거 있는 활동만 남긴다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75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아동 애니메이션 → 아이가 방해받지 않는 순간 + 증거 있는 활동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44348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434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0개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15768" y="44348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4434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종량 과금 0원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64608" y="44348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4434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 중 LLM 호출 0회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스크린타임의 진짜 문제는 길이가 아니다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20분이라도, 받아보는 20분과 대답하는 20분은 다르다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414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시청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926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아이는 20분 동안 아무것도 하지 않는다.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보호자는 '그만 봐'라고 말하는 것 외에 개입할 방법이 없다.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828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스토리닷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414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능동 참여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926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12분 영상에 평균 2~3회, 몰입을 깨지 않는 지점에만 개입한다.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횟수 상한을 설계에 못 박았다 — 많을수록 좋은 구조가 아니다.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605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보호자에게 필요한 건 '못 보게 하는 앱'이 아니라 '보는 시간의 성격을 바꾸는 앱'이다.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6177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문제의 실체는 스크린타임의 길이가 아니라 성격이다.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docs/심사대응.md §4-1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대상은 3~5세, 기준은 2019 개정 누리과정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898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활동이 임의로 만들어지지 않는다는 첫 신호. 모든 활동은 누리과정 영역과 세부 목표에 매핑된다.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538146" cy="1828800"/>
          </a:xfrm>
          <a:prstGeom prst="roundRect">
            <a:avLst>
              <a:gd name="adj" fmla="val 3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20809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의사소통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080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080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이야기 이해 · 낱말 알기 · 문장 배열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6826" y="1874520"/>
            <a:ext cx="2538146" cy="1828800"/>
          </a:xfrm>
          <a:prstGeom prst="roundRect">
            <a:avLst>
              <a:gd name="adj" fmla="val 3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2858" y="2084832"/>
            <a:ext cx="20809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사회관계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2858" y="2450592"/>
            <a:ext cx="2080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662858" y="3017520"/>
            <a:ext cx="2080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 읽기 · 도움 주고받기 · 내가 그 자리라면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6724" y="1874520"/>
            <a:ext cx="2538146" cy="1828800"/>
          </a:xfrm>
          <a:prstGeom prst="roundRect">
            <a:avLst>
              <a:gd name="adj" fmla="val 3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2756" y="2084832"/>
            <a:ext cx="20809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자연탐구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02756" y="2450592"/>
            <a:ext cx="2080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6건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502756" y="3017520"/>
            <a:ext cx="2080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개수 세기 · 크기 비교 · 원인과 결과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86621" y="1874520"/>
            <a:ext cx="2538146" cy="1828800"/>
          </a:xfrm>
          <a:prstGeom prst="roundRect">
            <a:avLst>
              <a:gd name="adj" fmla="val 3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42653" y="2084832"/>
            <a:ext cx="20809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예술경험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42653" y="2450592"/>
            <a:ext cx="2080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6건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342653" y="3017520"/>
            <a:ext cx="2080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색깔 퀴즈 · 장면 감상 · 그림으로 표현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977640"/>
            <a:ext cx="11057839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187952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연령 분포  </a:t>
            </a:r>
            <a:pPr indent="0" marL="0">
              <a:buNone/>
            </a:pPr>
            <a:r>
              <a:rPr lang="en-US" sz="13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3세 11 · 4세 7 · 5세 8 — 세 연령이 고르다.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창작형 비율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26건 중 7건(27%)이 정답 없는 활동. 누리과정이 정답 맞히기보다 표현과 참여를 앞에 두기 때문에 의도적으로 확보했다.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docs/정성검증.md §4 — 26건 전수 매핑 확인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통상적 접근은 두 가지를 아예 문제로 인식하지 않는다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05679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통상적 접근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스토리닷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언제 끼어드는가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고정 간격 또는 챕터 단위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이야기 단락 + 화면 정지 + 발화 여유를 동시에 만족하는 지점만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할루시네이션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프롬프트로 "지어내지 마세요"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결정적 문자열 대조. LLM 판단이 아니다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 추적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활동이 타임스탬프 + 원문 인용 + 프레임 ID 보유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14800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6968" y="4370832"/>
            <a:ext cx="310896" cy="310896"/>
          </a:xfrm>
          <a:prstGeom prst="ellipse">
            <a:avLst/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44168" y="4352544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요약을 LLM에 넣고 퀴즈를 뽑는 방식은, 아이가 방해받는 지점에서 멈추고 근거 없는 답을 가르친다.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344168" y="47548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문제 모두 순진한 해법이 실측에서 무너졌다. 다음 세 장이 그 기록이다.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docs/심사대응.md §1-1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유아 안전이 곧 할루시네이션 차단이다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783080"/>
            <a:ext cx="10143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성인은 LLM이 틀린 답을 내면 걸러낸다. 유아는 못 거른다.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267712"/>
            <a:ext cx="10143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"이불을 꿰맬 때 쓱쓱 소리가 난다"를 사실로 받아들인다.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5364328" cy="1965960"/>
          </a:xfrm>
          <a:prstGeom prst="roundRect">
            <a:avLst>
              <a:gd name="adj" fmla="val 2791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8328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정확도는 품질 지표가 아니라 안전 요건이다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06908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결정적 게이트를 파이프라인 최후단에 놓은 이유다. 검증에 실패한 카드는 재시도가 아니라 폐기된다.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0440" y="3127248"/>
            <a:ext cx="5364328" cy="1965960"/>
          </a:xfrm>
          <a:prstGeom prst="roundRect">
            <a:avLst>
              <a:gd name="adj" fmla="val 2791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6200" y="338328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이유로 단어장도 검증된 스팬에서만 채운다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26200" y="406908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 그러면 아이가 "크랑"을 단어로 배운다.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ASR이 "크롱"을 잘못 들은 결과인데, 오답이 최빈형이라 자동 확정은 정답을 오답으로 덮어쓴다.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docs/심사대응.md §4-1 · docs/정량지표.md §12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그럼 이렇게 하면 되지 않나요?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저희도 그렇게 시작했고, 세 번 다 틀렸습니다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해봤습니다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두 개를 붙여서 서로 검사시키면 되지 않나요?"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속 말을 받아 적는 프로그램을 세 가지 방식으로 돌려서, 답이 갈리면 걸러내려고 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1828800"/>
          </a:xfrm>
          <a:prstGeom prst="roundRect">
            <a:avLst>
              <a:gd name="adj" fmla="val 2000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대사      "이제 날 수 있겠어?"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1번 방식   →   날씨 있겠어    ✗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2번 방식   →   날씨 있겠어    ✗    셋이 따로따로 틀렸는데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3번 방식   →   날씨 있겠어    ✗    답이 똑같이 나왔다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1057839" cy="1600200"/>
          </a:xfrm>
          <a:prstGeom prst="roundRect">
            <a:avLst>
              <a:gd name="adj" fmla="val 3429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4133088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셋이 같은 답을 냈으니, 다수결로는 오히려 '가장 믿을 만한 문장'이 됩니다.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535424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셋 다 같은 소리를 듣고, 같은 언어 습관을 학습했기 때문입니다. 서로를 검사시켜도 같은 곳에서 같이 넘어집니다.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956048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검사는 같은 종류로 여러 번이 아니라, 아예 다른 종류로 해야 합니다. 그래서 '귀'와 '눈'을 따로 쓰기로 했습니다.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받아쓰기 5종이 work 폴더에 그대로 남아 있습니다 · docs/PIPELINE_PLAN.md §1.3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해봤습니다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"더 크고 좋은 AI를 쓰면 되지 않나요?"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받아쓰기 프로그램을 크기별로 바꿔 가며, 없는 말을 지어내는 구간이 전체의 몇 %인지 쟀습니다.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56816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모델  ·  1.5GB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128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영상의 4분의 1이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말이었다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0440" y="1773936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6200" y="1956816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모델  ·  465MB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6200" y="22128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964372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3배 작은 쪽이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2.6배 정확했다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346704"/>
            <a:ext cx="11057839" cy="1298448"/>
          </a:xfrm>
          <a:prstGeom prst="roundRect">
            <a:avLst>
              <a:gd name="adj" fmla="val 2817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56432"/>
            <a:ext cx="107286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뽀로로 1화 · 6분 03초 ~ 6분 33초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큰 모델   →  "크롱" 을 73번 반복. 30초를 통째로 날렸다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작은 모델 →  "예쁜 실이네" / "이걸로 이불을 꿰매주자" 를 제대로 받아 적었다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09744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하필 이 30초가 그 회차의 교훈이 시작되는 대목입니다. 큰 모델만 썼으면 이야기 한 토막이 통째로 사라집니다.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937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등장인물 이름을 미리 알려주는 방법도 써봤지만 결과가 소수점까지 똑같았습니다. 작품별 이름 사전이 따로 필요한 이유입니다.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docs/정량지표.md §1 — 재현 명령 포함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해봤습니다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"배경음악을 걸러내면 되지 않나요?"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목소리가 나는 구간만 골라 듣게 했더니, 지어낸 말은 정말 0%가 됐습니다. 그런데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75104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말  23.5% → 0%</a:t>
            </a:r>
            <a:pPr indent="0" marL="0">
              <a:buNone/>
            </a:pPr>
            <a:r>
              <a:rPr lang="en-US" sz="14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하지만        </a:t>
            </a:r>
            <a:pPr indent="0" marL="0">
              <a:buNone/>
            </a:pPr>
            <a:r>
              <a:rPr lang="en-US" sz="1450" b="1" dirty="0">
                <a:solidFill>
                  <a:srgbClr val="C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받아 적은 문장 160개 → 70개. 진짜 대사의 30%도 같이 사라졌다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59152"/>
            <a:ext cx="10234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여기서부터입니다. 이 두 번째 받아쓰기를 '검사관'으로 쓰면서, 검사관이 그 부분을 아예 안 적은 것까지 '틀렸다'로 처리하고 있었습니다.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035808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127248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말이 없는 것은 반대한다는 뜻이 아닙니다.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474720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검사관이 다룬 부분만 판정하고, 안 다룬 부분은 판단을 미루도록 한 줄 고쳤습니다.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77056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3108960"/>
                <a:gridCol w="1463040"/>
                <a:gridCol w="1371600"/>
                <a:gridCol w="200527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문장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고치기 전 쓸 수 있던 문장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고친 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몇 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낼 지점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티니핑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→ 3곳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→ 3곳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뽀로로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→ 2곳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아기상어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→ 1곳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프로젝트에서 한 줄 고쳐 가장 크게 바뀐 지점입니다. 뽀로로 한 편만 봤을 때는 2배로 보여서 못 찾았습니다.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만들었나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지어내지 말라고 부탁하는 대신, 지어낼 자리를 없앴습니다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그림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한 편을 네 사람이 나눠서 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558720" cy="2514600"/>
          </a:xfrm>
          <a:prstGeom prst="roundRect">
            <a:avLst>
              <a:gd name="adj" fmla="val 218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73936"/>
            <a:ext cx="658368" cy="658368"/>
          </a:xfrm>
          <a:prstGeom prst="ellipse">
            <a:avLst/>
          </a:prstGeom>
          <a:solidFill>
            <a:srgbClr val="FF6B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7739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78608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말을 받아 적는다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145536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영상을 두 가지 방식으로 듣고, 문장마다 얼마나 믿을 수 있는지 표시한다.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43936" y="26517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9968" y="1517904"/>
            <a:ext cx="2558720" cy="2514600"/>
          </a:xfrm>
          <a:prstGeom prst="roundRect">
            <a:avLst>
              <a:gd name="adj" fmla="val 218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2576" y="1773936"/>
            <a:ext cx="658368" cy="65836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92576" y="17739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92576" y="2578608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화면만 따로 본다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92576" y="3145536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말은 안 듣는다. 멈춰도 되는 순간이 언제인지, 무엇이 몇 개 있고 무슨 색인지만 본다.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76976" y="26517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3008" y="1517904"/>
            <a:ext cx="2558720" cy="2514600"/>
          </a:xfrm>
          <a:prstGeom prst="roundRect">
            <a:avLst>
              <a:gd name="adj" fmla="val 2182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5616" y="1773936"/>
            <a:ext cx="658368" cy="658368"/>
          </a:xfrm>
          <a:prstGeom prst="ellipse">
            <a:avLst/>
          </a:prstGeom>
          <a:solidFill>
            <a:srgbClr val="262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5616" y="17739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25616" y="2578608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문제를 만든다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25616" y="3145536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정답은 못 쓴다. 앞에서 세어 둔 값이 그대로 들어간다.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10015" y="26517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6047" y="1517904"/>
            <a:ext cx="2558720" cy="2514600"/>
          </a:xfrm>
          <a:prstGeom prst="roundRect">
            <a:avLst>
              <a:gd name="adj" fmla="val 2182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58655" y="1773936"/>
            <a:ext cx="658368" cy="658368"/>
          </a:xfrm>
          <a:prstGeom prst="ellipse">
            <a:avLst/>
          </a:prstGeom>
          <a:solidFill>
            <a:srgbClr val="262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58655" y="17739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58655" y="2578608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기계가 마지막에 대조한다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58655" y="3145536"/>
            <a:ext cx="197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문제에 쓴 대사가 대본에 정말 있는지, 정답 색이 화면에 정말 있는지. 판단이 아니라 대조다.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261104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8408" y="4462272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"지어내지 마세요"라고 부탁하지 않았습니다. 지어낼 자리를 없앴습니다.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8408" y="4956048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8408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서로 다른 감각으로 두 번 본다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07408" y="4956048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07408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정답은 AI가 쓰지 않는다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36408" y="4956048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36408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마지막은 기계가 대조한다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용어로 된 원본 구조도와 용어 대조표는 부록에 있습니다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 · 1단계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받아 적은 문장마다 '얼마나 믿을 수 있는지'를 표시합니다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6309360" cy="548640"/>
          </a:xfrm>
          <a:prstGeom prst="roundRect">
            <a:avLst>
              <a:gd name="adj" fmla="val 10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02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002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확실함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075688" y="1600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등장인물 이름이 확인됐고, 내용이 있는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6309360" cy="548640"/>
          </a:xfrm>
          <a:prstGeom prst="roundRect">
            <a:avLst>
              <a:gd name="adj" fmla="val 10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25856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62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585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75688" y="22585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 받아쓰기와 어긋나지 않는다 (또는 그 부분을 안 다뤘다)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6309360" cy="548640"/>
          </a:xfrm>
          <a:prstGeom prst="roundRect">
            <a:avLst>
              <a:gd name="adj" fmla="val 10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9169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6A6C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9169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075688" y="2916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 받아쓰기가 실제로 다르게 들었다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456432"/>
            <a:ext cx="6309360" cy="548640"/>
          </a:xfrm>
          <a:prstGeom prst="roundRect">
            <a:avLst>
              <a:gd name="adj" fmla="val 10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57530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6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5753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075688" y="35753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말로 판정. 문제 근거로 쓰지 않는다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05472" y="1481328"/>
            <a:ext cx="4419295" cy="2615184"/>
          </a:xfrm>
          <a:prstGeom prst="roundRect">
            <a:avLst>
              <a:gd name="adj" fmla="val 2098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25512" y="1682496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'확실함'을 줄인 것이 개선이었습니다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2249424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처음엔 등장인물 이름 하나만 맞으면 '확실함'을 줬더니, 옹알이가 최고 등급을 받았습니다.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2798064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[확실함]  크롱! 크롱!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[확실함]  엿돌디볼! 크롱! 크롱!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33832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뽀로로 214문장 중 '확실함' 70개의 약 60개가 이름만 반복하는 문장이었습니다.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내용이 있는 문장만 남기자 70 → 10개.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315968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4599432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하나를 맞게 고친 것은 그 이름만 보증하지, 문장 전체를 보증하지 않습니다. 등급을 나눠 뒀기 때문에 못 믿을 문장을 자동으로 뺄 수 있습니다.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docs/정량지표.md §3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 · 2단계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조용하다고 멈춰도 되는 건 아닙니다</a:t>
            </a:r>
            <a:endParaRPr lang="en-US" sz="2700" dirty="0"/>
          </a:p>
        </p:txBody>
      </p:sp>
      <p:pic>
        <p:nvPicPr>
          <p:cNvPr id="4" name="Image 0" descr="img/타요1화_2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3310128" cy="1865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35661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타요 4분 36초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84048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변화량이 커서 '한창 움직이는 중'으로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 버렸습니다. 실제로는 장면이 탁 바뀐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 화면 — 멈추기 딱 좋은 자리였습니다.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6817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자리를 버렸다</a:t>
            </a:r>
            <a:endParaRPr lang="en-US" sz="1250" dirty="0"/>
          </a:p>
        </p:txBody>
      </p:sp>
      <p:pic>
        <p:nvPicPr>
          <p:cNvPr id="8" name="Image 1" descr="img/뽀로로1화_45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572768"/>
            <a:ext cx="3310128" cy="18653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42816" y="35661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뽀로로 7분 35초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242816" y="384048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변화량이 작아서 '조용하다'고 통과시켰습니다.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실제로는 바늘 끝만 확대된 화면 — 이야기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한복판이었습니다. 지금은 이렇게 교정됩니다.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242816" y="46817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나쁜 자리를 통과시켰다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918704" y="1572768"/>
            <a:ext cx="3706063" cy="3383280"/>
          </a:xfrm>
          <a:prstGeom prst="roundRect">
            <a:avLst>
              <a:gd name="adj" fmla="val 1622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38744" y="1810512"/>
            <a:ext cx="3065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실수가 정반대 방향입니다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238744" y="2432304"/>
            <a:ext cx="30659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장면이 바뀌는 순간과 캐릭터가 움직이는 중은 화면 변화량이 둘 다 크게 나옵니다. 숫자 하나로는 못 가릅니다.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238744" y="3200400"/>
            <a:ext cx="30659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둘을 따로 재고,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얼마나 확대됐는지도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같이 보도록 고쳤습니다.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238744" y="4114800"/>
            <a:ext cx="3065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기준값은 실제 영상 6구간을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재서 뽑았습니다.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51206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32688" y="5285232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— 사람이 프레임을 직접 열어 판정한 '멈춰도 되는 자리' 적중률이 9곳 중 5곳(56%)에서 7곳 전부(100%)로 올랐습니다.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 · 2단계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만화에 같은 잣대를 대면 무너집니다 — 세 번 겪었습니다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3931920"/>
                <a:gridCol w="2736799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찾을 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처음에 쓴 기준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무슨 일이 벌어졌나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어떻게 고쳤나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장면이 바뀌는 순간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화면이 35% 이상 바뀌면 전환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어두운 눈보라 장면에서 2번밖에 못 찾았다. 실제로는 39번 바뀌었다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 구간 안에서 상대적으로 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확대된 화면인지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화면이 단순하면 확대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원래 그림이 단순한 아기상어는 전 장면이 '확대'로 나와 쓸 수 있는 지점이 1곳 → 0곳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 작품의 평균과 비교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본편이 끝나는 지점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긴 무음 구간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두 번 연속 엉뚱한 곳을 찍었다 (1분 전, 1분 32초 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무음 길이가 아니라 '누가 말했는가'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15968"/>
            <a:ext cx="6766560" cy="1298448"/>
          </a:xfrm>
          <a:prstGeom prst="roundRect">
            <a:avLst>
              <a:gd name="adj" fmla="val 4225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4498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'그 작품 안에서 상대적으로' 재도록 바꿨습니다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8828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고정된 숫자를 쓰면 그림체가 바뀌는 순간 무너집니다. 눈보라 한복판에서 퀴즈를 띄우게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62672" y="4315968"/>
            <a:ext cx="3962095" cy="1298448"/>
          </a:xfrm>
          <a:prstGeom prst="roundRect">
            <a:avLst>
              <a:gd name="adj" fmla="val 4225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82712" y="45171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아기상어 복구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7914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낼 지점  0 → 1곳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docs/정량지표.md §4 · §14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 · 3단계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낼 거리를 미리 창고에 쌓고, 보는 사람과 내는 사람을 나눴습니다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3977640"/>
          </a:xfrm>
          <a:prstGeom prst="roundRect">
            <a:avLst>
              <a:gd name="adj" fmla="val 1379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19072"/>
            <a:ext cx="310896" cy="310896"/>
          </a:xfrm>
          <a:prstGeom prst="ellipse">
            <a:avLst/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68249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멈출 자리를 먼저 정하니, 재료를 거의 못 봤습니다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267712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예전에는 멈출 자리를 먼저 고르고, 그 앞 100초만 뒤졌습니다. 브레드는 멈출 자리가 0곳이라 재료를 한 번도 안 봤습니다.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926080"/>
            <a:ext cx="4705960" cy="1874520"/>
          </a:xfrm>
          <a:prstGeom prst="roundRect">
            <a:avLst>
              <a:gd name="adj" fmla="val 1951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035808"/>
            <a:ext cx="437677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작품        문장수   쓸 만한 재료   실제로 본 것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브레드        237      119          0    (0%)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티니핑        167      106          6    (5.7%)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아기상어      157       39          7   (17.9%)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뽀로로        214       56         18   (32.1%)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타요          237       69         30   (43.5%)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         1012      389         61   (15.7%)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901184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재료의 84%를 놓치고 있었습니다 → 영상 전체에서 먼저 다 모아 둡니다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1481328"/>
            <a:ext cx="5346040" cy="3977640"/>
          </a:xfrm>
          <a:prstGeom prst="roundRect">
            <a:avLst>
              <a:gd name="adj" fmla="val 1379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8768" y="1719072"/>
            <a:ext cx="310896" cy="310896"/>
          </a:xfrm>
          <a:prstGeom prst="ellipse">
            <a:avLst/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9876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55968" y="168249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보는 사람은 문제를 내지 않습니다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267712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담당은 '무엇이 몇 개, 무슨 색, 큰지 작은지'만 적습니다. 자기가 본 것에 유리하게 문제를 만들 여지를 막았습니다.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98768" y="2962656"/>
            <a:ext cx="4705960" cy="1417320"/>
          </a:xfrm>
          <a:prstGeom prst="roundRect">
            <a:avLst>
              <a:gd name="adj" fmla="val 3871"/>
            </a:avLst>
          </a:prstGeom>
          <a:solidFill>
            <a:srgbClr val="1F2350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7368" y="3127248"/>
            <a:ext cx="424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그 말을 컴퓨터가 반박합니다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3438144"/>
            <a:ext cx="424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화면의 색은 컴퓨터가 미리 기계적으로 세어 둡니다. AI가 "초록 인형"이라고 적었는데 그 화면에 초록이 없으면 그 말을 버립니다.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27368" y="4023360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말을 다른 AI가 아니라 산수가 검사합니다.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98768" y="448056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5편 · 화면 40장에서 AI가 적은 사물 109건 중 9건(8.3%)을 이 방식으로 걸러냈습니다.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98768" y="493776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[버림]  초록 인형    ← 그 화면에 초록이 없다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[버림]  흰색 곰인형  ← 화면에 없는 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· 4단계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검사는 AI가 하지 않습니다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81912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819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근거로 적은 번호가 실제로 있는 것인가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30568" y="16002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30568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 대조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203704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2037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문제에 쓴 대사가 대본에 글자 그대로 있는가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30568" y="22219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0568" y="2221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 대조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724912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25496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8254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대사가 정말 그 장면의 것인가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30568" y="284378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 대조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346704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3447288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4472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정답이 그 근거에서 나오는가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30568" y="34655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6B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3465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판단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968496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4069080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069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정답으로 쓴 색이 그 화면에 실제로 있는가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30568" y="40873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30568" y="4087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 계산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59952" y="1481328"/>
            <a:ext cx="2864815" cy="3108960"/>
          </a:xfrm>
          <a:prstGeom prst="roundRect">
            <a:avLst>
              <a:gd name="adj" fmla="val 1915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0" y="1737360"/>
            <a:ext cx="2279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걸리면 다시 만들지 않습니다. 버립니다.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2615184"/>
            <a:ext cx="2279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채점하는 쪽을 문제 만드는 쪽 밖에 따로 두었습니다.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3163824"/>
            <a:ext cx="22795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사람이 자기 답안을 자기 기준으로 채점하면 점수를 비교할 수 없습니다. 실제로 두 방식이 각자 8.3%와 3.8%를 주장하고 있었는데, 자가 서로 달랐습니다.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4754880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" y="495604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문제를 만드는 AI와 검토하는 AI는 아예 따로 띄웁니다 — 같은 대화 안에 두면 검증이 아니라 자기 확인이 됩니다.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규칙 자체 시험 10문항 전부 통과 · 재현: python3 judge.py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중요한 결정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정답 칸을 주지 않았습니다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6766560" cy="1691640"/>
          </a:xfrm>
          <a:prstGeom prst="roundRect">
            <a:avLst>
              <a:gd name="adj" fmla="val 2162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9344"/>
            <a:ext cx="64373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개수 문제    정답 = 화면에서 미리 세어 둔 개수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크기 문제    정답 = 미리 재둔 큼 / 작음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인물 문제    정답 = 미리 확인해 둔 이름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 문제      정답 = 미리 뽑아 둔 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3467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하는 일은 '이 재료로 이런 질문을 내자'를 고르는 것뿐입니다.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803904"/>
            <a:ext cx="6766560" cy="1664208"/>
          </a:xfrm>
          <a:prstGeom prst="roundRect">
            <a:avLst>
              <a:gd name="adj" fmla="val 329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0050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문제에 그 장면 그림을 붙였습니다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35254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"버스가 몇 대였나요?"              12분 전을 기억해야 한다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 그림에 버스가 몇 대 있나요?"    눈앞에서 세면 된다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9743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기억해내기가 알아보기로 바뀌면서 3세도 풀 수 있게 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62672" y="1499616"/>
            <a:ext cx="3962095" cy="3968496"/>
          </a:xfrm>
          <a:prstGeom prst="roundRect">
            <a:avLst>
              <a:gd name="adj" fmla="val 1385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82712" y="1737360"/>
            <a:ext cx="3322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지어낼 칸이 아예 없습니다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982712" y="2359152"/>
            <a:ext cx="3322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중간에 끼어드는 대신 영상이 끝난 뒤에 내기로 하면서, 골치 아픈 문제들이 한꺼번에 사라졌습니다.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82712" y="3108960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대사를 밟고 끊는 문제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982712" y="3438144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가장 긴장된 순간에 끊는 문제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3767328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확대 화면인지 헷갈리는 문제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82712" y="4096512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대사가 안 쉬는 작품에서 0곳 나오는 문제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82712" y="457200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그림이 없는 문제는 만들기를 거부합니다.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982712" y="4919472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 없는 화면을 내보내느니 문제 하나를 잃는 편이 낫다고 판단했습니다.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결과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추정치는 없다. 측정 방법과 재현 명령이 전부 붙어 있다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전후 비교 — 숫자로 확인된 것만 모았다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377440"/>
                <a:gridCol w="2377440"/>
                <a:gridCol w="1365199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ASR 환각 구간 비율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 가능 세그먼트 (티니핑)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51.3×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거짓 high 등급 (뽀로로)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7.0× 정화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어두운 장면 컷 검출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엔딩 경계 오차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−108초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해소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개입지점 시각 적절성 (육안)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5/9 (56%)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7/7 (100%)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색 판정 오판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해소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비용 (편당)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3회 호출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0원 · 0키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5321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15종 · 측정 방법과 재현 명령 포함 · docs/정량지표.md (부록 A)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없는 문제가 10.7%에서 1.7%로 줄었습니다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만드는 방식을 바꾼 전후를, 양쪽 밖에 따로 둔 같은 검사 규칙으로 채점했습니다.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46040" cy="2011680"/>
          </a:xfrm>
          <a:prstGeom prst="roundRect">
            <a:avLst>
              <a:gd name="adj" fmla="val 272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38528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정답까지 직접 쓸 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94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6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72384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28개 중 3개가 근거 없음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64992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대사도 정답도 AI가 타이핑한다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737360"/>
            <a:ext cx="5346040" cy="2011680"/>
          </a:xfrm>
          <a:prstGeom prst="roundRect">
            <a:avLst>
              <a:gd name="adj" fmla="val 2727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4488" y="1938528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모아 둔 재료에서 가져올 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44488" y="22494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3072384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115개 중 2개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3364992"/>
            <a:ext cx="461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대사는 원문에서 잘라 오고, 정답은 이미 세어 둔 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31920"/>
            <a:ext cx="11057839" cy="1572768"/>
          </a:xfrm>
          <a:prstGeom prst="roundRect">
            <a:avLst>
              <a:gd name="adj" fmla="val 348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11480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수는 4배로 늘고, 근거 없는 문제는 6분의 1로 줄었습니다.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498848"/>
            <a:ext cx="103263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규칙은 두 방식 어느 쪽에도 속하지 않습니다. 양쪽 결과를 같은 형식으로 맞춘 뒤 같은 자로 쟀고, 채점 규칙 자체 시험 10문항을 통과했습니다.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974336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재현:  python3 judge.py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걸린 사례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검사대가 실제로 걸러낸 것 — 만들어낸 예시가 아닙니다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07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07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대사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대본에 없는 말을 지어냈다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1664208"/>
            <a:ext cx="6714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문제가 인용한 말   "친구들이 모여 있어요"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대본        "뽀로로와 크롱은 정말 꿈을 꾼 걸까요?"   ✗ 다르다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24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7249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정답만 지어냄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9626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대사는 진짜, 정답만 가짜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688336"/>
            <a:ext cx="6714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인용한 말  "꿰매기 시작했어요"   ← 대본에 진짜 있다. 여기까진 통과한다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       "쓱쓱"              ← 어디에도 없는 말. 정답 검사가 잡았다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49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749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212848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그림과 안 맞음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39867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AI가 화면을 열어 반박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3712464"/>
            <a:ext cx="6714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"눈 내린 마을 위 하늘은 무슨 색? → 파랑"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검토: 화면 위쪽은 대부분 눈 덮인 산이고, 하늘은 흰색에 가깝다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5371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7731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7731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212848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나이에 안 맞음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5010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정답은 맞는데 너무 어렵다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736592"/>
            <a:ext cx="6714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"맨 오른쪽 끝 버스는 무슨 색?"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검토: 왼쪽 오른쪽 구분은 5세 수준. 이 문제의 대상은 3세다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6144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번째가 핵심입니다 — 대사만 검사하면 이건 그냥 통과합니다. 정답을 따로 검사하는 단계를 만든 이유입니다.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53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docs/정성검증.md §3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VERIFIED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개입지점 7곳 — 프레임을 직접 열어 판정했다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여기서 멈추면 끊겼다고 느낄까"를 기준으로, 오디오 신호만 쓰던 시점 9곳 중 5곳(56%) → 시각 정착 게이트 이후 7곳 전부 적절.</a:t>
            </a:r>
            <a:endParaRPr lang="en-US" sz="1300" dirty="0"/>
          </a:p>
        </p:txBody>
      </p:sp>
      <p:pic>
        <p:nvPicPr>
          <p:cNvPr id="5" name="Image 0" descr="img/뽀로로1화_4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2487168" cy="1399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3273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뽀로로 7:35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51129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곰인형·크롱·뽀로로가 다 보이는 와이드 실내 (교정됨)</a:t>
            </a:r>
            <a:endParaRPr lang="en-US" sz="950" dirty="0"/>
          </a:p>
        </p:txBody>
      </p:sp>
      <p:pic>
        <p:nvPicPr>
          <p:cNvPr id="8" name="Image 1" descr="img/뽀로로1화_66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828800"/>
            <a:ext cx="2487168" cy="1399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10128" y="3273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뽀로로 11:00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310128" y="351129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 덮인 마을 와이드</a:t>
            </a:r>
            <a:endParaRPr lang="en-US" sz="950" dirty="0"/>
          </a:p>
        </p:txBody>
      </p:sp>
      <p:pic>
        <p:nvPicPr>
          <p:cNvPr id="11" name="Image 2" descr="img/타요1화_1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828800"/>
            <a:ext cx="2487168" cy="1399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53328" y="3273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타요 1:54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053328" y="351129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교통체증 부감. 노란 덤프트럭이 정중앙</a:t>
            </a:r>
            <a:endParaRPr lang="en-US" sz="950" dirty="0"/>
          </a:p>
        </p:txBody>
      </p:sp>
      <p:pic>
        <p:nvPicPr>
          <p:cNvPr id="14" name="Image 3" descr="img/타요1화_27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1828800"/>
            <a:ext cx="2487168" cy="1399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96528" y="3273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타요 4:35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8796528" y="351129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지붕 아래 버스 4대 (빨강·노랑·초록·파랑)</a:t>
            </a:r>
            <a:endParaRPr lang="en-US" sz="950" dirty="0"/>
          </a:p>
        </p:txBody>
      </p:sp>
      <p:pic>
        <p:nvPicPr>
          <p:cNvPr id="17" name="Image 4" descr="img/타요1화_55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14800"/>
            <a:ext cx="2487168" cy="1399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66928" y="5559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타요 9:16</a:t>
            </a:r>
            <a:endParaRPr lang="en-US" sz="1150" dirty="0"/>
          </a:p>
        </p:txBody>
      </p:sp>
      <p:sp>
        <p:nvSpPr>
          <p:cNvPr id="19" name="Text 12"/>
          <p:cNvSpPr txBox="1"/>
          <p:nvPr/>
        </p:nvSpPr>
        <p:spPr>
          <a:xfrm>
            <a:off x="566928" y="579729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유리 부스 3개 대칭 배치</a:t>
            </a:r>
            <a:endParaRPr lang="en-US" sz="950" dirty="0"/>
          </a:p>
        </p:txBody>
      </p:sp>
      <p:pic>
        <p:nvPicPr>
          <p:cNvPr id="20" name="Image 5" descr="img/아기상어1화_39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4114800"/>
            <a:ext cx="2487168" cy="1399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310128" y="5559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아기상어 6:36</a:t>
            </a:r>
            <a:endParaRPr lang="en-US" sz="1150" dirty="0"/>
          </a:p>
        </p:txBody>
      </p:sp>
      <p:sp>
        <p:nvSpPr>
          <p:cNvPr id="22" name="Text 14"/>
          <p:cNvSpPr txBox="1"/>
          <p:nvPr/>
        </p:nvSpPr>
        <p:spPr>
          <a:xfrm>
            <a:off x="3310128" y="579729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파란 바다. 노란 아기상어 + 주황 물고기</a:t>
            </a:r>
            <a:endParaRPr lang="en-US" sz="950" dirty="0"/>
          </a:p>
        </p:txBody>
      </p:sp>
      <p:pic>
        <p:nvPicPr>
          <p:cNvPr id="23" name="Image 6" descr="img/티니핑1화_76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4114800"/>
            <a:ext cx="2487168" cy="139903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053328" y="55595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티니핑 12:41</a:t>
            </a:r>
            <a:endParaRPr lang="en-US" sz="1150" dirty="0"/>
          </a:p>
        </p:txBody>
      </p:sp>
      <p:sp>
        <p:nvSpPr>
          <p:cNvPr id="25" name="Text 16"/>
          <p:cNvSpPr txBox="1"/>
          <p:nvPr/>
        </p:nvSpPr>
        <p:spPr>
          <a:xfrm>
            <a:off x="6053328" y="579729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공원 와이드. 전경에 분홍 손거울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8796528" y="4114800"/>
            <a:ext cx="2487168" cy="2103120"/>
          </a:xfrm>
          <a:prstGeom prst="roundRect">
            <a:avLst>
              <a:gd name="adj" fmla="val 2609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9052560" y="4279392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400" dirty="0"/>
          </a:p>
        </p:txBody>
      </p:sp>
      <p:sp>
        <p:nvSpPr>
          <p:cNvPr id="28" name="Text 19"/>
          <p:cNvSpPr txBox="1"/>
          <p:nvPr/>
        </p:nvSpPr>
        <p:spPr>
          <a:xfrm>
            <a:off x="9052560" y="482803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육안 판정 전부 적절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9052560" y="5138928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기각도 성과다 — 티니핑 2:42는 8초 창 전체가 동작 중이라 '멈출 자리 없음'으로 기각했다.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생성자와 검증자의 말을 믿지 않고 프레임을 열었다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466490" cy="1783080"/>
          </a:xfrm>
          <a:prstGeom prst="roundRect">
            <a:avLst>
              <a:gd name="adj" fmla="val 3077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737360"/>
            <a:ext cx="282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타이밍 7곳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048256"/>
            <a:ext cx="2826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43200"/>
            <a:ext cx="28264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프레임을 직접 열어 판정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2602" y="1517904"/>
            <a:ext cx="3466490" cy="1783080"/>
          </a:xfrm>
          <a:prstGeom prst="roundRect">
            <a:avLst>
              <a:gd name="adj" fmla="val 3077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2642" y="1737360"/>
            <a:ext cx="282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근거 카드 8건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82642" y="2048256"/>
            <a:ext cx="2826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0건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82642" y="2743200"/>
            <a:ext cx="28264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개수·색을 직접 세어 확인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8277" y="1517904"/>
            <a:ext cx="3466490" cy="1783080"/>
          </a:xfrm>
          <a:prstGeom prst="roundRect">
            <a:avLst>
              <a:gd name="adj" fmla="val 3077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8317" y="1737360"/>
            <a:ext cx="282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누리과정 매핑 26건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78317" y="2048256"/>
            <a:ext cx="2826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4영역 고른 분포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78317" y="2743200"/>
            <a:ext cx="28264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창작형 27% 의도적 확보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20440"/>
            <a:ext cx="11057839" cy="1920240"/>
          </a:xfrm>
          <a:prstGeom prst="roundRect">
            <a:avLst>
              <a:gd name="adj" fmla="val 285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730752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축 7개 — 하나라도 실패하면 폐기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96512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인용 정확성 — 원문과 문자 단위 대조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95848" y="4096512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정답 타당성 — 화면형은 프레임을 열어 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4407408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유일성 — 보기 중 둘 이상이 정답 가능한지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4407408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오답 안전성 — 오답 보기가 증거에 버젓이 있는지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718304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연령 적합성 — 누리과정 발달 수준표와 대조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718304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과정 매핑 — domain·curriculum 일치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02920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개입 타이밍 — 동작 중·클로즈업이 아닌지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docs/정성검증.md — 경계선에 걸린 2건까지 기록으로 남겼다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결과를 아이가 보는 화면까지 잇는다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PLANNER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보호자가 정한 예산 안에 영상과 활동이 전부 들어간다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992112" cy="713232"/>
          </a:xfrm>
          <a:prstGeom prst="roundRect">
            <a:avLst>
              <a:gd name="adj" fmla="val 769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99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3360" y="1481328"/>
            <a:ext cx="1992112" cy="713232"/>
          </a:xfrm>
          <a:prstGeom prst="roundRect">
            <a:avLst>
              <a:gd name="adj" fmla="val 769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3360" y="1481328"/>
            <a:ext cx="199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9792" y="1481328"/>
            <a:ext cx="1992112" cy="713232"/>
          </a:xfrm>
          <a:prstGeom prst="roundRect">
            <a:avLst>
              <a:gd name="adj" fmla="val 7692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99792" y="1481328"/>
            <a:ext cx="199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6224" y="1481328"/>
            <a:ext cx="1992112" cy="713232"/>
          </a:xfrm>
          <a:prstGeom prst="roundRect">
            <a:avLst>
              <a:gd name="adj" fmla="val 769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6224" y="1481328"/>
            <a:ext cx="199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32655" y="1481328"/>
            <a:ext cx="1992112" cy="713232"/>
          </a:xfrm>
          <a:prstGeom prst="roundRect">
            <a:avLst>
              <a:gd name="adj" fmla="val 7692"/>
            </a:avLst>
          </a:prstGeom>
          <a:solidFill>
            <a:srgbClr val="F1F2F7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32655" y="1481328"/>
            <a:ext cx="199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3042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브레이크는 영상 사이에만 붙는다 — 몰입을 자르지 않는다. 미션 카드는 화면 밖 활동으로 세션을 착지시킨다.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035040" cy="1051560"/>
          </a:xfrm>
          <a:prstGeom prst="roundRect">
            <a:avLst>
              <a:gd name="adj" fmla="val 3478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852928"/>
            <a:ext cx="57058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total(k) = Σ(영상 길이) + (k−1) × 40초 + 20초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브레이크        미션 카드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9136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퀴즈도 화면을 보는 시간이다. 그래서 예산에 포함했다.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26110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영상을 하나 더 넣으면 퀴즈 시간도 같이 늘어나기 때문에, 단순히 남는 시간을 채우는 방식으로는 안 됩니다. 그리고 긴 영상부터 놓습니다 — 마지막 영상이 짧아야 끝날 때 아쉬움이 적습니다.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1152" y="2743200"/>
          <a:ext cx="46936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7792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편성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6분 + 1분 + 미션 · 총 8분 26초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10분 + 브레이크 2문항 + 6분 + 1분 + 미션 · 총 19분 15초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— 카탈로그가 3편뿐이라 더 못 채운다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931152" y="5029200"/>
            <a:ext cx="4693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타요 3편(문항은 1화에만)으로 예산을 바꿔 본 실측.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편성 알고리즘 원안은 curri 무수정 · backend/server/planner/planner.ts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산출물 — 문항과 근거 프레임은 항상 같이 나온다</a:t>
            </a:r>
            <a:endParaRPr lang="en-US" sz="2700" dirty="0"/>
          </a:p>
        </p:txBody>
      </p:sp>
      <p:pic>
        <p:nvPicPr>
          <p:cNvPr id="4" name="Image 0" descr="img/타요1화_001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3931920" cy="2212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384048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0507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색깔 퀴즈  ·  예술경험  ·  3세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6110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그림에서 버스는 무슨 색인가요?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9028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보라 / 분홍 / 파랑  →  파랑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828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"파랑"은 화면에서 미리 뽑아 둔 색을 그대로 쓴 것</a:t>
            </a:r>
            <a:endParaRPr lang="en-US" sz="1000" dirty="0"/>
          </a:p>
        </p:txBody>
      </p:sp>
      <p:pic>
        <p:nvPicPr>
          <p:cNvPr id="10" name="Image 1" descr="img/타요1화_0024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517904"/>
            <a:ext cx="3931920" cy="22128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9744" y="384048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65776" y="400507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개수 세기  ·  자연탐구  ·  3세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065776" y="426110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그림에 빨간 차가 몇 대 있나요?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065776" y="459028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 / 3  →  3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065776" y="48828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"3"은 미리 세어 둔 개수. AI는 질문만 골랐다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052560" y="1517904"/>
            <a:ext cx="2572207" cy="3803904"/>
          </a:xfrm>
          <a:prstGeom prst="roundRect">
            <a:avLst>
              <a:gd name="adj" fmla="val 2133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45168" y="1755648"/>
            <a:ext cx="1986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5편 전편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9345168" y="2029968"/>
            <a:ext cx="19869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21건</a:t>
            </a:r>
            <a:endParaRPr lang="en-US" sz="4200" dirty="0"/>
          </a:p>
        </p:txBody>
      </p:sp>
      <p:sp>
        <p:nvSpPr>
          <p:cNvPr id="19" name="Text 15"/>
          <p:cNvSpPr txBox="1"/>
          <p:nvPr/>
        </p:nvSpPr>
        <p:spPr>
          <a:xfrm>
            <a:off x="9345168" y="2670048"/>
            <a:ext cx="1986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345168" y="3035808"/>
            <a:ext cx="1986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9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9345168" y="3547872"/>
            <a:ext cx="1986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 — 사유가 남는다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345168" y="3895344"/>
            <a:ext cx="19869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[폐기] 색깔 퀴즈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"안전한 오답 색이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모자란다"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9345168" y="4736592"/>
            <a:ext cx="1986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0을 내는 것이 정상 동작이다.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실기기 시연 · 30초 영상  [발표 전 녹화 필요]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E3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2304288" y="239572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확장성과 ESG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50008" y="31272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끊길 지점이 재생 경로에 없다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가능성 — 프로젝트가 끝나도 끊길 지점이 없다</a:t>
            </a:r>
            <a:endParaRPr lang="en-US" sz="2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벤더 종속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영상에서 소리·화면 뽑기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 공개 도구, 내 컴퓨터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말 받아 적기 (2번)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 공개 모델, 내 컴퓨터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(모델을 직접 갖고 있음)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 정리 · 장면 나누기 · 색 분석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짠 코드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만들기 · 검토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· 영상 1편당 1번, 미리 처리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다른 AI로 교체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아이가 보는 동안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45552" y="1517904"/>
            <a:ext cx="3779215" cy="1691640"/>
          </a:xfrm>
          <a:prstGeom prst="roundRect">
            <a:avLst>
              <a:gd name="adj" fmla="val 3243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737360"/>
            <a:ext cx="3193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회사가 값을 올리거나 서비스를 접어도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029968"/>
            <a:ext cx="31939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만들어 둔 문제는 그대로 돌아갑니다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651760"/>
            <a:ext cx="3193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만드는 단계도 명령 한 줄이라 다른 AI로 바꿔 끼울 수 있습니다.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45552" y="3401568"/>
            <a:ext cx="3779215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3474720"/>
            <a:ext cx="3267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101584" y="3694176"/>
            <a:ext cx="3267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  </a:t>
            </a:r>
            <a:pPr indent="0" marL="0">
              <a:buNone/>
            </a:pPr>
            <a:r>
              <a:rPr lang="en-US" sz="10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Pro 노트북 · 12분 1편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45552" y="4114800"/>
            <a:ext cx="3779215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01584" y="4187952"/>
            <a:ext cx="3267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하드웨어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101584" y="4407408"/>
            <a:ext cx="3267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노트북   </a:t>
            </a:r>
            <a:pPr indent="0" marL="0">
              <a:buNone/>
            </a:pPr>
            <a:r>
              <a:rPr lang="en-US" sz="10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서버 불필요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45552" y="4828032"/>
            <a:ext cx="3779215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E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1584" y="4901184"/>
            <a:ext cx="3267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1,000편 처리 시 추가 비용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101584" y="5120640"/>
            <a:ext cx="3267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전기값과 시간   </a:t>
            </a:r>
            <a:pPr indent="0" marL="0">
              <a:buNone/>
            </a:pPr>
            <a:r>
              <a:rPr lang="en-US" sz="1050" dirty="0">
                <a:solidFill>
                  <a:srgbClr val="50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한계비용이 사실상 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457200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4864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장벽이 낮은 것이 핵심이다. 계정 발급도, 인프라 구축도, 예산 승인도 필요 없다.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docs/심사대응.md §3-1 · §4-2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만든 진짜 자산은 퀴즈가 아니라 규칙 하나입니다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5205679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어디까지 넓히나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새로 손봐야 하는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그대로 두는 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같은 만화의 다른 회차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등장인물 이름표를 한 번 만들면 전 회차에 그대로 쓴다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다른 만화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이름표 파일 1개 (약 20줄)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나머지 전부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다른 언어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받아쓰기 언어 설정과 내레이션 말투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구조와 검사 규칙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다른 분야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낼 수 있는 문제 종류 목록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"근거가 원문에 그대로 있어야 한다"는 규칙은 분야를 안 가린다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931920"/>
            <a:ext cx="6309360" cy="1737360"/>
          </a:xfrm>
          <a:prstGeom prst="roundRect">
            <a:avLst>
              <a:gd name="adj" fmla="val 3158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지키는 규칙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440740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문제에 쓰는 모든 말은 원본에서 따와야 하고,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말이 원본에 글자 그대로 있어야 하며,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정답도 그 근거에서 나와야 한다.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어긋나면 다시 만들지 않고 버린다.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05472" y="3931920"/>
            <a:ext cx="4419295" cy="1737360"/>
          </a:xfrm>
          <a:prstGeom prst="roundRect">
            <a:avLst>
              <a:gd name="adj" fmla="val 315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25512" y="411480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틀리면 안 되는 분야라면 어디든 그대로 옮겨 갑니다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525512" y="444398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아동 애니메이션 → 초·중등 인강 · 사내 교육 영상 · 안전 교육 · 박물관 도슨트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 상담 요약 · 법률 문서 검토 · 금융 리포트 · 규제 대응 문서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25512" y="512064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구조가 똑같기 때문입니다 — 긴 영상이 있고, 중간에 이해했는지 확인해야 하고, 그 확인이 내용에 근거해야 합니다.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덤으로 — 문제를 못 만든 구간 자체가 콘텐츠 평가가 됩니다 (브레드 0곳 = 대사가 쉬지 않아 아이가 쉴 틈이 없는 편)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— 논거를 구체적으로 적는다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43584"/>
          </a:xfrm>
          <a:prstGeom prst="roundRect">
            <a:avLst>
              <a:gd name="adj" fmla="val 4412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01368"/>
            <a:ext cx="603504" cy="60350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01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64592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내 컴퓨터에서 돌아갑니다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1975104"/>
            <a:ext cx="9594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말을 받아 적는 작업을 외부 서버에 맡기면 영상 1편당 3번씩 원격 요청이 갑니다. 이 방식은 전부 노트북 안에서 끝납니다.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1,000편이면 원격 요청 3,000번과 그만큼의 데이터 전송이 통째로 없어집니다.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아이가 보는 동안에는 AI를 한 번도 부르지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11057839" cy="1243584"/>
          </a:xfrm>
          <a:prstGeom prst="roundRect">
            <a:avLst>
              <a:gd name="adj" fmla="val 4412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172968"/>
            <a:ext cx="603504" cy="603504"/>
          </a:xfrm>
          <a:prstGeom prst="ellipse">
            <a:avLst/>
          </a:prstGeom>
          <a:solidFill>
            <a:srgbClr val="FF6B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172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301752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시청 → 능동 참여 · 아동 안전 · 격차 완화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346704"/>
            <a:ext cx="9594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12분 영상에 평균 2~3회, 몰입을 깨지 않는 지점에만 개입한다. 개입 횟수 상한을 설계에 못 박았다.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유아는 틀린 답을 못 거른다. 그래서 정확도를 안전 요건으로 취급했다.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로컬 실행이라 인터넷이 불안정한 환경(도서·산간, 해외 한글학교)에서도 동작한다.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224528"/>
            <a:ext cx="11057839" cy="1243584"/>
          </a:xfrm>
          <a:prstGeom prst="roundRect">
            <a:avLst>
              <a:gd name="adj" fmla="val 4412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544568"/>
            <a:ext cx="603504" cy="603504"/>
          </a:xfrm>
          <a:prstGeom prst="ellipse">
            <a:avLst/>
          </a:prstGeom>
          <a:solidFill>
            <a:srgbClr val="262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438912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문제마다 "어디서 나왔는지"가 남는다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718304"/>
            <a:ext cx="9594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하나하나에 몇 분 몇 초 장면인지, 어떤 대사에서 나왔는지, 어떤 그림인지가 붙어 있습니다.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24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버린 문제와 버린 이유까지 함께 남습니다 — 무엇을 걸러냈는지도 확인할 수 있습니다.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509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리포트가 "AI가 그렇게 판단했습니다"가 아니라 "7분 31초 장면의 이 대사에 근거합니다"가 되는 것이 실질적 차이다.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정직하게 적는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682496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효과는 미검증이다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1956816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검증한 것은 "적절한 타이밍에 근거 있는 활동을 자동으로 만들 수 있는가"까지다. 그 활동이 실제로 학습에 도움이 되는지는 아동 대상 사용자 연구가 필요하다.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542032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검증자도 LLM이다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816352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결정적 게이트가 최후 방어선이지만, 게이트가 못 잡는 유형(연령 수준 초과, 오답 모호성)은 검증자 판단에 의존한다. 이 의존은 남아 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401568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티니핑 본편 끝이 [tail] 폴백이다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3675888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5편 중 유일하게 노래 구간도 내레이션도 못 찾았다. 12:41 개입이 엔딩 크레딧 안일 가능성을 배제하지 못한다.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151376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262A5C"/>
          </a:solidFill>
          <a:ln w="12700">
            <a:solidFill>
              <a:srgbClr val="3A3F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261104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파이프라인을 돌린 작품이 시리즈당 1편뿐이다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4535424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영상은 add-videos.js 로 채울 수 있지만 문항은 파이프라인을 돌린 편에만 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389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 — 아동 사용자 연구 · 시리즈 확장 · 오디오 덕킹으로 대사 밀도 높은 작품 대응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잘된 결과만 보여드리지 않았습니다. 저희가 틀렸던 지점과, 그걸 어떻게 기계적으로 잡았는지를 보여드렸습니다.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근거를 쌓는다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82496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1572768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지표 15종 전문 (측정 방법 + 재현 명령)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883664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docs/정량지표.md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0440" y="1481328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9896" y="1682496"/>
            <a:ext cx="310896" cy="310896"/>
          </a:xfrm>
          <a:prstGeom prst="ellipse">
            <a:avLst/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18808" y="1572768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뒤집힌 판단 6개 — 실패 경로를 지우지 않았다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18808" y="1883664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docs/PIPELINE_PLAN.md 부록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468880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235915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 검증 26건 전수 기록 (경계선·폐기 포함)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2670048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docs/정성검증.md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0440" y="2267712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9896" y="2468880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9896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18808" y="235915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엔딩 경계 4번의 시도와 오차 (−59 / −92 / −108 / 0초)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18808" y="2670048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docs/정량지표.md §5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054096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3255264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25296" y="314553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자동 수렴의 두 오류 (크랑←크롱 · 뽀로뽀로←뽀로로)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225296" y="3456432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docs/정량지표.md §12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0440" y="3054096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9896" y="3255264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989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18808" y="314553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장면 경계 신호 기여도 — 티니핑은 gap, 브레드는 topic이 지배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18808" y="3456432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docs/정량지표.md §13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4041648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25296" y="3931920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 항목 ↔ 근거 매핑표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225296" y="4242816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docs/심사대응.md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0440" y="3840480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9896" y="4041648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79896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918808" y="3931920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구성표와 자체검사 (python3 &lt;파일&gt;.py)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918808" y="4242816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4626864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" y="4828032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6384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225296" y="4718304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파이프라인 구조도와 임계값 근거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225296" y="502920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0440" y="4626864"/>
            <a:ext cx="5364328" cy="676656"/>
          </a:xfrm>
          <a:prstGeom prst="roundRect">
            <a:avLst>
              <a:gd name="adj" fmla="val 8108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79896" y="4828032"/>
            <a:ext cx="310896" cy="310896"/>
          </a:xfrm>
          <a:prstGeom prst="ellipse">
            <a:avLst/>
          </a:prstGeom>
          <a:solidFill>
            <a:srgbClr val="262A5C"/>
          </a:solidFill>
          <a:ln w="12700">
            <a:solidFill>
              <a:srgbClr val="262A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79896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918808" y="4718304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발표에서 쓴 말 ↔ 기술 용어 대조표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918808" y="502920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다음다음 장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5541264"/>
            <a:ext cx="11057839" cy="1005840"/>
          </a:xfrm>
          <a:prstGeom prst="roundRect">
            <a:avLst>
              <a:gd name="adj" fmla="val 5455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2688" y="5687568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B를 반드시 넣을 것.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932688" y="5998464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본문의 판단 여섯 개가 실행으로 뒤집힌 기록이다. 다른 팀이 부록에 논문이나 결과보고서를 쌓는 자리에, 우리는 틀린 것을 남긴 기록을 놓는다.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질의 대비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· 기술 상세 — 실제 파이프라인 구조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772400" cy="3977640"/>
          </a:xfrm>
          <a:prstGeom prst="roundRect">
            <a:avLst>
              <a:gd name="adj" fmla="val 920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91056"/>
            <a:ext cx="744321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오디오 ─┬─ whisper.cpp small  -mc 0     기준 타임라인 (재현율 최고)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  └─ turbo + Silero VAD           교차검증 앵커 (환각 0%)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          ▼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정본 = 시간축 세그먼트 + 신뢰도 4등급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high / medium / low / quarantine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          ▼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   act 경계 3단 폴백  ·  하드규칙 6개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화면 ─ motion.py   컷 / 지속동작 분리 · 샷 크기(작품별 정규화)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visual.py   프레임 추출 + 결정적 색 양자화(11색)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▼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facts.py (재료 인덱스) ─ observe.py (VLM 관찰) ─ 팔레트 반증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▼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생성 에이전트  ↔  검증 에이전트   (claude CLI 별도 프로세스)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▼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judge.py  J0~J4 결정적 게이트  →  activity_plan.json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68512" y="1481328"/>
            <a:ext cx="2956255" cy="1920240"/>
          </a:xfrm>
          <a:prstGeom prst="roundRect">
            <a:avLst>
              <a:gd name="adj" fmla="val 2857"/>
            </a:avLst>
          </a:prstGeom>
          <a:solidFill>
            <a:srgbClr val="F1F2F7"/>
          </a:solidFill>
          <a:ln w="12700">
            <a:solidFill>
              <a:srgbClr val="F1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42832" y="1664208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근거 (실측 6개 창)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942832" y="1956816"/>
            <a:ext cx="2407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CUT_ABS   = 40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컷 최솟값 44.1 vs 고원 최댓값 35.4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CUT_RATIO = 2.0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컷 최소배수 2.47 vs 고원 최대 1.6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QUIET     = 3.0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24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정지 최댓값 2.5 vs 클로즈업 중앙 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68512" y="3566160"/>
            <a:ext cx="2956255" cy="1892808"/>
          </a:xfrm>
          <a:prstGeom prst="roundRect">
            <a:avLst>
              <a:gd name="adj" fmla="val 2899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42832" y="374904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 판별식 (결정적)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4041648"/>
            <a:ext cx="2407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D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(top_token_count &gt;= 5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D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top_ratio &gt; 0.6)   반복 루프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D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duration &lt;= 0.01     타임스탬프 붕괴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D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len(text)/duration &gt; 12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D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불가능한 발화속도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2362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6개 전부 python3 &lt;파일&gt;.py 자체검사 통과 · 외부 파이썬 패키지 0개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질의 대비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· 발표에서 쓴 말 ↔ 기술 용어</a:t>
            </a:r>
            <a:endParaRPr lang="en-US" sz="2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839919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발표에서 쓴 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 용어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줄 설명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말을 받아 적는다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ASR · whisper.cpp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음성을 텍스트로 옮기는 것. 로컬 실행, API 키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지어낸 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 (hallucination)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루프·타임스탬프 붕괴·불가능한 발화속도로 결정적 판별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목소리 나는 구간만 골라 듣기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Silero VAD 게이팅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 0%가 되는 대신 재현율 30% 손실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두 번째 받아쓰기 · 검사관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교차검증 앵커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겹칠 때만 판정, 안 겹치면 보류 (침묵 ≠ 반박)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믿을 수 있는 정도 표시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신뢰도 4등급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/ medium / low / quarantine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장면이 탁 바뀌는 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컷 (scene cut)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프레임 차분 급등. 멈추기 좋은 자리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한창 움직이는 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지속 동작 (motion plateau)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차분 고원. 멈추면 안 되는 자리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확대된 화면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샷 크기 · 클로즈업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작품별 중앙값 대비 상대 판정 (절대값은 무너짐)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재료 창고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facts 인덱스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정지점과 무관하게 영상 전체에서 출제 재료를 추출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보는 사람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VLM 관찰자 (observe.py)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출제와 분리된 독립 프로세스. 관찰만 한다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컴퓨터가 센 색 목록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결정적 색 양자화 · 팔레트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colors / trace / absent 3분할. k-means 아님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마지막 검사대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결정적 게이트 J0~J4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판정기는 생성기 밖에 고정. 불일치는 폐기, 재시도 아님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· 발표 자료에는 넣지 않는다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1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전 보강 목록 — 벤치마크 두 팀 대비</a:t>
            </a:r>
            <a:endParaRPr lang="en-US" sz="2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468880"/>
                <a:gridCol w="2651760"/>
                <a:gridCol w="90799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5팀 MUSIC SENSE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2팀 REALY.AI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스토리닷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자체 수요 설문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시장 규모 수치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36만 명 · 81.4%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400억 달러 · 19배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실사용자 검증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아동 3명 사전/사후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40대·70대 후기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개발자 자체 검증만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경쟁 서비스 비교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 with Intention 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RAON · Fakecheck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전문가 인터뷰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음악치료사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 역할 · 일정표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의사결정 로그까지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결과보고서 양식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A6C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제출 요강 확인 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56048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16173A"/>
          </a:solidFill>
          <a:ln w="12700">
            <a:solidFill>
              <a:srgbClr val="1617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5138928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반대로, 두 팀에 없고 우리에게만 있는 것 — 여기에 시간을 더 쓸 것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5468112"/>
            <a:ext cx="10326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실측 밀도 — 전후 비교 15종에 전부 측정 방법과 재현 명령이 붙어 있다 (두 팀은 핵심 지표 1~2개)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실패 기록 — 뒤집힌 판단 6개, 엔딩 경계 4번의 시도. 틀린 것을 지우지 않은 자료는 드물다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비용 0 구조 — 2팀은 Azure·RunPod 인프라 비용이 있다. 우리는 API 키 0개 · 재생 시 추론 0회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통념 반박이 데이터로 — 2팀의 62→77%는 개선이고, 우리의 "세 모델이 같은 오답으로 수렴"은 반증이다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2026-08-26T06:27:14Z</dcterms:created>
  <dcterms:modified xsi:type="dcterms:W3CDTF">2026-08-26T06:27:14Z</dcterms:modified>
</cp:coreProperties>
</file>